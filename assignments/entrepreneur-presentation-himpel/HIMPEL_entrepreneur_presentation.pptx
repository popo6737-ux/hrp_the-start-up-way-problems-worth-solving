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Our team selected Kim Jung-hwan, the founder of HIMPEL, a Korean ventilation appliance company.
We selected him because his story shows an important entrepreneurial lesson: he did not create a completely new human need. Instead, he found an old problem that most companies did not take seriously — poor air quality in bathrooms and homes.
I will explain his journey through three questions: the customer problem, the key entrepreneurial decision, and the connection to our pre-reading.
First — what customer problem did he try to solve?
In the past, bathroom ventilation fans were treated as cheap building materials. The buyer was often a construction company, but the actual user was the person living in the home. Many users experienced weak ventilation, noise, moisture, odors, and air coming back through the duct.
So the real customer problem was not simply "we need a fan." The real problem was "we need a clean, dry, quiet, and comfortable bathroom."
This is an important problem-solving point: instead of asking "how can we make a better fan," HIMPEL could ask "how can we improve the customer's bathroom experience." That wider problem definition created more room for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 what entrepreneurial decision made a major difference?
Kim Jung-hwan originally started a company that produced furniture-related parts. In 1993 he decided to shift the whole business toward ventilation, because he believed indoor air quality could improve people's quality of life. That was an important strategic pivot.
The company also chose not to compete only through low prices. It invested in technology for consistent airflow, lower noise, and preventing odors and air from flowing backward through the duct.
But the most important decision was changing the meaning of the product itself: HIMPEL repositioned the ventilation fan from a simple building component to a ventilation appliance. Later, products like Hugent combined ventilation, heating, dehumidifying, and drying in one device.
Today HIMPEL holds about 60 percent of Korea's bathroom ventilation-fan market. In my opinion, this category redefinition — not the fan itself — was the entrepreneurial action that made the biggest difference. HIMPEL was no longer selling a fan; it was selling a better bathroom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 which idea from the pre-reading best relates to this journey?
We chose the idea of avoiding poor product-market fit from the Failure Museum reading. That reading explains that companies fail when they build a solution before confirming a compelling customer problem — the product ends up being a nice-to-have instead of a must-have, a solution in search of a problem.
HIMPEL's journey shows the opposite path. The company focused on a real, repeated problem. It pivoted away from furniture parts into ventilation. It improved the product around actual usage conditions. And it only expanded into new categories after proving strong value in one.
To conclude: Kim Jung-hwan's main achievement was not simply building a large ventilation company. He saw value in a problem other companies considered too ordinary. His story teaches us that entrepreneurship is the ability to redefine an overlooked problem and create a solution customers truly value.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4.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2743200" cy="365760"/>
          </a:xfrm>
          <a:prstGeom prst="rect">
            <a:avLst/>
          </a:prstGeom>
          <a:noFill/>
          <a:ln/>
        </p:spPr>
        <p:txBody>
          <a:bodyPr wrap="square" lIns="0" tIns="0" rIns="0" bIns="0" rtlCol="0" anchor="ctr"/>
          <a:lstStyle/>
          <a:p>
            <a:pPr indent="0" marL="0">
              <a:buNone/>
            </a:pPr>
            <a:r>
              <a:rPr lang="en-US" sz="1800" b="1" spc="100" kern="0" dirty="0">
                <a:solidFill>
                  <a:srgbClr val="1C4A34"/>
                </a:solidFill>
                <a:latin typeface="Calibri" pitchFamily="34" charset="0"/>
                <a:ea typeface="Calibri" pitchFamily="34" charset="-122"/>
                <a:cs typeface="Calibri" pitchFamily="34" charset="-120"/>
              </a:rPr>
              <a:t>HIMPEL</a:t>
            </a:r>
            <a:endParaRPr lang="en-US" sz="1800" dirty="0"/>
          </a:p>
        </p:txBody>
      </p:sp>
      <p:sp>
        <p:nvSpPr>
          <p:cNvPr id="3" name="Text 1"/>
          <p:cNvSpPr/>
          <p:nvPr/>
        </p:nvSpPr>
        <p:spPr>
          <a:xfrm>
            <a:off x="457200" y="713232"/>
            <a:ext cx="5486400" cy="274320"/>
          </a:xfrm>
          <a:prstGeom prst="rect">
            <a:avLst/>
          </a:prstGeom>
          <a:noFill/>
          <a:ln/>
        </p:spPr>
        <p:txBody>
          <a:bodyPr wrap="square" rtlCol="0" anchor="ctr"/>
          <a:lstStyle/>
          <a:p>
            <a:pPr indent="0" marL="0">
              <a:buNone/>
            </a:pPr>
            <a:r>
              <a:rPr lang="en-US" sz="1200" b="1" spc="150" kern="0" dirty="0">
                <a:solidFill>
                  <a:srgbClr val="6B6B6B"/>
                </a:solidFill>
                <a:latin typeface="Calibri" pitchFamily="34" charset="0"/>
                <a:ea typeface="Calibri" pitchFamily="34" charset="-122"/>
                <a:cs typeface="Calibri" pitchFamily="34" charset="-120"/>
              </a:rPr>
              <a:t>KIM JUNG-HWAN  ·  FOUNDER</a:t>
            </a:r>
            <a:endParaRPr lang="en-US" sz="1200" dirty="0"/>
          </a:p>
        </p:txBody>
      </p:sp>
      <p:sp>
        <p:nvSpPr>
          <p:cNvPr id="4" name="Text 2"/>
          <p:cNvSpPr/>
          <p:nvPr/>
        </p:nvSpPr>
        <p:spPr>
          <a:xfrm>
            <a:off x="457200" y="1051560"/>
            <a:ext cx="11247120" cy="1737360"/>
          </a:xfrm>
          <a:prstGeom prst="rect">
            <a:avLst/>
          </a:prstGeom>
          <a:noFill/>
          <a:ln/>
        </p:spPr>
        <p:txBody>
          <a:bodyPr wrap="square" lIns="0" tIns="0" rIns="0" bIns="0" rtlCol="0" anchor="ctr"/>
          <a:lstStyle/>
          <a:p>
            <a:pPr algn="l" indent="0" marL="0">
              <a:lnSpc>
                <a:spcPct val="105000"/>
              </a:lnSpc>
              <a:buNone/>
            </a:pPr>
            <a:r>
              <a:rPr lang="en-US" sz="3400" b="1" dirty="0">
                <a:solidFill>
                  <a:srgbClr val="1A1A1A"/>
                </a:solidFill>
                <a:latin typeface="Cambria" pitchFamily="34" charset="0"/>
                <a:ea typeface="Cambria" pitchFamily="34" charset="-122"/>
                <a:cs typeface="Cambria" pitchFamily="34" charset="-120"/>
              </a:rPr>
              <a:t>The customer did not need a fan.</a:t>
            </a:r>
            <a:endParaRPr lang="en-US" sz="3400" dirty="0"/>
          </a:p>
          <a:p>
            <a:pPr algn="l" indent="0" marL="0">
              <a:lnSpc>
                <a:spcPct val="105000"/>
              </a:lnSpc>
              <a:buNone/>
            </a:pPr>
            <a:r>
              <a:rPr lang="en-US" sz="3400" b="1" dirty="0">
                <a:solidFill>
                  <a:srgbClr val="1C4A34"/>
                </a:solidFill>
                <a:latin typeface="Cambria" pitchFamily="34" charset="0"/>
                <a:ea typeface="Cambria" pitchFamily="34" charset="-122"/>
                <a:cs typeface="Cambria" pitchFamily="34" charset="-120"/>
              </a:rPr>
              <a:t>They needed better air.</a:t>
            </a:r>
            <a:endParaRPr lang="en-US" sz="3400" dirty="0"/>
          </a:p>
        </p:txBody>
      </p:sp>
      <p:sp>
        <p:nvSpPr>
          <p:cNvPr id="5" name="Shape 3"/>
          <p:cNvSpPr/>
          <p:nvPr/>
        </p:nvSpPr>
        <p:spPr>
          <a:xfrm>
            <a:off x="457200" y="2926080"/>
            <a:ext cx="2468880" cy="1874520"/>
          </a:xfrm>
          <a:prstGeom prst="roundRect">
            <a:avLst>
              <a:gd name="adj" fmla="val 5854"/>
            </a:avLst>
          </a:prstGeom>
          <a:solidFill>
            <a:srgbClr val="F1ECE3"/>
          </a:solidFill>
          <a:ln/>
        </p:spPr>
      </p:sp>
      <p:pic>
        <p:nvPicPr>
          <p:cNvPr id="6" name="Image 0" descr="icon_wind.png">    </p:cNvPr>
          <p:cNvPicPr>
            <a:picLocks noChangeAspect="1"/>
          </p:cNvPicPr>
          <p:nvPr/>
        </p:nvPicPr>
        <p:blipFill>
          <a:blip r:embed="rId1"/>
          <a:stretch>
            <a:fillRect/>
          </a:stretch>
        </p:blipFill>
        <p:spPr>
          <a:xfrm>
            <a:off x="1417320" y="3246120"/>
            <a:ext cx="548640" cy="548640"/>
          </a:xfrm>
          <a:prstGeom prst="rect">
            <a:avLst/>
          </a:prstGeom>
        </p:spPr>
      </p:pic>
      <p:sp>
        <p:nvSpPr>
          <p:cNvPr id="7" name="Text 4"/>
          <p:cNvSpPr/>
          <p:nvPr/>
        </p:nvSpPr>
        <p:spPr>
          <a:xfrm>
            <a:off x="457200" y="3977640"/>
            <a:ext cx="2468880" cy="640080"/>
          </a:xfrm>
          <a:prstGeom prst="rect">
            <a:avLst/>
          </a:prstGeom>
          <a:noFill/>
          <a:ln/>
        </p:spPr>
        <p:txBody>
          <a:bodyPr wrap="square"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Weak airflow</a:t>
            </a:r>
            <a:endParaRPr lang="en-US" sz="1400" dirty="0"/>
          </a:p>
        </p:txBody>
      </p:sp>
      <p:sp>
        <p:nvSpPr>
          <p:cNvPr id="8" name="Shape 5"/>
          <p:cNvSpPr/>
          <p:nvPr/>
        </p:nvSpPr>
        <p:spPr>
          <a:xfrm>
            <a:off x="3200400" y="2926080"/>
            <a:ext cx="2468880" cy="1874520"/>
          </a:xfrm>
          <a:prstGeom prst="roundRect">
            <a:avLst>
              <a:gd name="adj" fmla="val 5854"/>
            </a:avLst>
          </a:prstGeom>
          <a:solidFill>
            <a:srgbClr val="F1ECE3"/>
          </a:solidFill>
          <a:ln/>
        </p:spPr>
      </p:sp>
      <p:pic>
        <p:nvPicPr>
          <p:cNvPr id="9" name="Image 1" descr="icon_volume.png">    </p:cNvPr>
          <p:cNvPicPr>
            <a:picLocks noChangeAspect="1"/>
          </p:cNvPicPr>
          <p:nvPr/>
        </p:nvPicPr>
        <p:blipFill>
          <a:blip r:embed="rId2"/>
          <a:stretch>
            <a:fillRect/>
          </a:stretch>
        </p:blipFill>
        <p:spPr>
          <a:xfrm>
            <a:off x="4160520" y="3246120"/>
            <a:ext cx="548640" cy="548640"/>
          </a:xfrm>
          <a:prstGeom prst="rect">
            <a:avLst/>
          </a:prstGeom>
        </p:spPr>
      </p:pic>
      <p:sp>
        <p:nvSpPr>
          <p:cNvPr id="10" name="Text 6"/>
          <p:cNvSpPr/>
          <p:nvPr/>
        </p:nvSpPr>
        <p:spPr>
          <a:xfrm>
            <a:off x="3200400" y="3977640"/>
            <a:ext cx="2468880" cy="640080"/>
          </a:xfrm>
          <a:prstGeom prst="rect">
            <a:avLst/>
          </a:prstGeom>
          <a:noFill/>
          <a:ln/>
        </p:spPr>
        <p:txBody>
          <a:bodyPr wrap="square"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Noise</a:t>
            </a:r>
            <a:endParaRPr lang="en-US" sz="1400" dirty="0"/>
          </a:p>
        </p:txBody>
      </p:sp>
      <p:sp>
        <p:nvSpPr>
          <p:cNvPr id="11" name="Shape 7"/>
          <p:cNvSpPr/>
          <p:nvPr/>
        </p:nvSpPr>
        <p:spPr>
          <a:xfrm>
            <a:off x="5943600" y="2926080"/>
            <a:ext cx="2468880" cy="1874520"/>
          </a:xfrm>
          <a:prstGeom prst="roundRect">
            <a:avLst>
              <a:gd name="adj" fmla="val 5854"/>
            </a:avLst>
          </a:prstGeom>
          <a:solidFill>
            <a:srgbClr val="F1ECE3"/>
          </a:solidFill>
          <a:ln/>
        </p:spPr>
      </p:sp>
      <p:pic>
        <p:nvPicPr>
          <p:cNvPr id="12" name="Image 2" descr="icon_fog.png">    </p:cNvPr>
          <p:cNvPicPr>
            <a:picLocks noChangeAspect="1"/>
          </p:cNvPicPr>
          <p:nvPr/>
        </p:nvPicPr>
        <p:blipFill>
          <a:blip r:embed="rId3"/>
          <a:stretch>
            <a:fillRect/>
          </a:stretch>
        </p:blipFill>
        <p:spPr>
          <a:xfrm>
            <a:off x="6903720" y="3246120"/>
            <a:ext cx="548640" cy="548640"/>
          </a:xfrm>
          <a:prstGeom prst="rect">
            <a:avLst/>
          </a:prstGeom>
        </p:spPr>
      </p:pic>
      <p:sp>
        <p:nvSpPr>
          <p:cNvPr id="13" name="Text 8"/>
          <p:cNvSpPr/>
          <p:nvPr/>
        </p:nvSpPr>
        <p:spPr>
          <a:xfrm>
            <a:off x="5943600" y="3977640"/>
            <a:ext cx="2468880" cy="640080"/>
          </a:xfrm>
          <a:prstGeom prst="rect">
            <a:avLst/>
          </a:prstGeom>
          <a:noFill/>
          <a:ln/>
        </p:spPr>
        <p:txBody>
          <a:bodyPr wrap="square"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Odor &amp; backflow</a:t>
            </a:r>
            <a:endParaRPr lang="en-US" sz="1400" dirty="0"/>
          </a:p>
        </p:txBody>
      </p:sp>
      <p:sp>
        <p:nvSpPr>
          <p:cNvPr id="14" name="Shape 9"/>
          <p:cNvSpPr/>
          <p:nvPr/>
        </p:nvSpPr>
        <p:spPr>
          <a:xfrm>
            <a:off x="8686800" y="2926080"/>
            <a:ext cx="2468880" cy="1874520"/>
          </a:xfrm>
          <a:prstGeom prst="roundRect">
            <a:avLst>
              <a:gd name="adj" fmla="val 5854"/>
            </a:avLst>
          </a:prstGeom>
          <a:solidFill>
            <a:srgbClr val="F1ECE3"/>
          </a:solidFill>
          <a:ln/>
        </p:spPr>
      </p:sp>
      <p:pic>
        <p:nvPicPr>
          <p:cNvPr id="15" name="Image 3" descr="icon_droplets.png">    </p:cNvPr>
          <p:cNvPicPr>
            <a:picLocks noChangeAspect="1"/>
          </p:cNvPicPr>
          <p:nvPr/>
        </p:nvPicPr>
        <p:blipFill>
          <a:blip r:embed="rId4"/>
          <a:stretch>
            <a:fillRect/>
          </a:stretch>
        </p:blipFill>
        <p:spPr>
          <a:xfrm>
            <a:off x="9646920" y="3246120"/>
            <a:ext cx="548640" cy="548640"/>
          </a:xfrm>
          <a:prstGeom prst="rect">
            <a:avLst/>
          </a:prstGeom>
        </p:spPr>
      </p:pic>
      <p:sp>
        <p:nvSpPr>
          <p:cNvPr id="16" name="Text 10"/>
          <p:cNvSpPr/>
          <p:nvPr/>
        </p:nvSpPr>
        <p:spPr>
          <a:xfrm>
            <a:off x="8686800" y="3977640"/>
            <a:ext cx="2468880" cy="640080"/>
          </a:xfrm>
          <a:prstGeom prst="rect">
            <a:avLst/>
          </a:prstGeom>
          <a:noFill/>
          <a:ln/>
        </p:spPr>
        <p:txBody>
          <a:bodyPr wrap="square" rtlCol="0" anchor="t"/>
          <a:lstStyle/>
          <a:p>
            <a:pPr algn="ctr" indent="0" marL="0">
              <a:buNone/>
            </a:pPr>
            <a:r>
              <a:rPr lang="en-US" sz="1400" b="1" dirty="0">
                <a:solidFill>
                  <a:srgbClr val="1A1A1A"/>
                </a:solidFill>
                <a:latin typeface="Calibri" pitchFamily="34" charset="0"/>
                <a:ea typeface="Calibri" pitchFamily="34" charset="-122"/>
                <a:cs typeface="Calibri" pitchFamily="34" charset="-120"/>
              </a:rPr>
              <a:t>Mold &amp; moisture</a:t>
            </a:r>
            <a:endParaRPr lang="en-US" sz="1400" dirty="0"/>
          </a:p>
        </p:txBody>
      </p:sp>
      <p:sp>
        <p:nvSpPr>
          <p:cNvPr id="17" name="Text 11"/>
          <p:cNvSpPr/>
          <p:nvPr/>
        </p:nvSpPr>
        <p:spPr>
          <a:xfrm>
            <a:off x="457200" y="5212080"/>
            <a:ext cx="11247120" cy="548640"/>
          </a:xfrm>
          <a:prstGeom prst="rect">
            <a:avLst/>
          </a:prstGeom>
          <a:noFill/>
          <a:ln/>
        </p:spPr>
        <p:txBody>
          <a:bodyPr wrap="square" rtlCol="0" anchor="ctr"/>
          <a:lstStyle/>
          <a:p>
            <a:pPr algn="l" indent="0" marL="0">
              <a:buNone/>
            </a:pPr>
            <a:r>
              <a:rPr lang="en-US" sz="1500" i="1" dirty="0">
                <a:solidFill>
                  <a:srgbClr val="6B6B6B"/>
                </a:solidFill>
                <a:latin typeface="Calibri" pitchFamily="34" charset="0"/>
                <a:ea typeface="Calibri" pitchFamily="34" charset="-122"/>
                <a:cs typeface="Calibri" pitchFamily="34" charset="-120"/>
              </a:rPr>
              <a:t>Ventilation fans were sold as cheap building components — not as something that improves daily life.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195560" y="384048"/>
            <a:ext cx="1554480" cy="320040"/>
          </a:xfrm>
          <a:prstGeom prst="rect">
            <a:avLst/>
          </a:prstGeom>
          <a:noFill/>
          <a:ln/>
        </p:spPr>
        <p:txBody>
          <a:bodyPr wrap="square" lIns="0" tIns="0" rIns="0" bIns="0" rtlCol="0" anchor="ctr"/>
          <a:lstStyle/>
          <a:p>
            <a:pPr algn="r" indent="0" marL="0">
              <a:buNone/>
            </a:pPr>
            <a:r>
              <a:rPr lang="en-US" sz="1600" b="1" spc="100" kern="0" dirty="0">
                <a:solidFill>
                  <a:srgbClr val="1C4A34"/>
                </a:solidFill>
                <a:latin typeface="Calibri" pitchFamily="34" charset="0"/>
                <a:ea typeface="Calibri" pitchFamily="34" charset="-122"/>
                <a:cs typeface="Calibri" pitchFamily="34" charset="-120"/>
              </a:rPr>
              <a:t>HIMPEL</a:t>
            </a:r>
            <a:endParaRPr lang="en-US" sz="1600" dirty="0"/>
          </a:p>
        </p:txBody>
      </p:sp>
      <p:sp>
        <p:nvSpPr>
          <p:cNvPr id="3" name="Text 1"/>
          <p:cNvSpPr/>
          <p:nvPr/>
        </p:nvSpPr>
        <p:spPr>
          <a:xfrm>
            <a:off x="457200" y="365760"/>
            <a:ext cx="950976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The Decision That Made the Difference</a:t>
            </a:r>
            <a:endParaRPr lang="en-US" sz="3200" dirty="0"/>
          </a:p>
        </p:txBody>
      </p:sp>
      <p:sp>
        <p:nvSpPr>
          <p:cNvPr id="4" name="Shape 2"/>
          <p:cNvSpPr/>
          <p:nvPr/>
        </p:nvSpPr>
        <p:spPr>
          <a:xfrm>
            <a:off x="457200" y="1554480"/>
            <a:ext cx="502920" cy="502920"/>
          </a:xfrm>
          <a:prstGeom prst="ellipse">
            <a:avLst/>
          </a:prstGeom>
          <a:solidFill>
            <a:srgbClr val="1C4A34"/>
          </a:solidFill>
          <a:ln/>
        </p:spPr>
      </p:sp>
      <p:sp>
        <p:nvSpPr>
          <p:cNvPr id="5" name="Text 3"/>
          <p:cNvSpPr/>
          <p:nvPr/>
        </p:nvSpPr>
        <p:spPr>
          <a:xfrm>
            <a:off x="457200" y="155448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1989</a:t>
            </a:r>
            <a:endParaRPr lang="en-US" sz="900" dirty="0"/>
          </a:p>
        </p:txBody>
      </p:sp>
      <p:sp>
        <p:nvSpPr>
          <p:cNvPr id="6" name="Text 4"/>
          <p:cNvSpPr/>
          <p:nvPr/>
        </p:nvSpPr>
        <p:spPr>
          <a:xfrm>
            <a:off x="1143000" y="1463040"/>
            <a:ext cx="5440680" cy="10972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Founded the company producing furniture parts — sink and drawer handles.</a:t>
            </a:r>
            <a:endParaRPr lang="en-US" sz="1450" dirty="0"/>
          </a:p>
        </p:txBody>
      </p:sp>
      <p:sp>
        <p:nvSpPr>
          <p:cNvPr id="7" name="Shape 5"/>
          <p:cNvSpPr/>
          <p:nvPr/>
        </p:nvSpPr>
        <p:spPr>
          <a:xfrm>
            <a:off x="457200" y="2971800"/>
            <a:ext cx="502920" cy="502920"/>
          </a:xfrm>
          <a:prstGeom prst="ellipse">
            <a:avLst/>
          </a:prstGeom>
          <a:solidFill>
            <a:srgbClr val="1C4A34"/>
          </a:solidFill>
          <a:ln/>
        </p:spPr>
      </p:sp>
      <p:sp>
        <p:nvSpPr>
          <p:cNvPr id="8" name="Text 6"/>
          <p:cNvSpPr/>
          <p:nvPr/>
        </p:nvSpPr>
        <p:spPr>
          <a:xfrm>
            <a:off x="457200" y="297180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1993</a:t>
            </a:r>
            <a:endParaRPr lang="en-US" sz="900" dirty="0"/>
          </a:p>
        </p:txBody>
      </p:sp>
      <p:sp>
        <p:nvSpPr>
          <p:cNvPr id="9" name="Text 7"/>
          <p:cNvSpPr/>
          <p:nvPr/>
        </p:nvSpPr>
        <p:spPr>
          <a:xfrm>
            <a:off x="1143000" y="2880360"/>
            <a:ext cx="5440680" cy="10972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Pivoted the entire business toward ventilation fans.</a:t>
            </a:r>
            <a:endParaRPr lang="en-US" sz="1450" dirty="0"/>
          </a:p>
        </p:txBody>
      </p:sp>
      <p:sp>
        <p:nvSpPr>
          <p:cNvPr id="10" name="Shape 8"/>
          <p:cNvSpPr/>
          <p:nvPr/>
        </p:nvSpPr>
        <p:spPr>
          <a:xfrm>
            <a:off x="457200" y="4389120"/>
            <a:ext cx="502920" cy="502920"/>
          </a:xfrm>
          <a:prstGeom prst="ellipse">
            <a:avLst/>
          </a:prstGeom>
          <a:solidFill>
            <a:srgbClr val="1C4A34"/>
          </a:solidFill>
          <a:ln/>
        </p:spPr>
      </p:sp>
      <p:sp>
        <p:nvSpPr>
          <p:cNvPr id="11" name="Text 9"/>
          <p:cNvSpPr/>
          <p:nvPr/>
        </p:nvSpPr>
        <p:spPr>
          <a:xfrm>
            <a:off x="457200" y="4389120"/>
            <a:ext cx="502920" cy="5029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Today</a:t>
            </a:r>
            <a:endParaRPr lang="en-US" sz="900" dirty="0"/>
          </a:p>
        </p:txBody>
      </p:sp>
      <p:sp>
        <p:nvSpPr>
          <p:cNvPr id="12" name="Text 10"/>
          <p:cNvSpPr/>
          <p:nvPr/>
        </p:nvSpPr>
        <p:spPr>
          <a:xfrm>
            <a:off x="1143000" y="4297680"/>
            <a:ext cx="5440680" cy="10972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Redefined the category: building material → ventilation appliance (Hugent: ventilation + heating + dehumidifying + drying).</a:t>
            </a:r>
            <a:endParaRPr lang="en-US" sz="1450" dirty="0"/>
          </a:p>
        </p:txBody>
      </p:sp>
      <p:sp>
        <p:nvSpPr>
          <p:cNvPr id="13" name="Shape 11"/>
          <p:cNvSpPr/>
          <p:nvPr/>
        </p:nvSpPr>
        <p:spPr>
          <a:xfrm>
            <a:off x="7040880" y="1554480"/>
            <a:ext cx="4663440" cy="3931920"/>
          </a:xfrm>
          <a:prstGeom prst="roundRect">
            <a:avLst>
              <a:gd name="adj" fmla="val 2791"/>
            </a:avLst>
          </a:prstGeom>
          <a:solidFill>
            <a:srgbClr val="E8EEEA"/>
          </a:solidFill>
          <a:ln/>
        </p:spPr>
      </p:sp>
      <p:sp>
        <p:nvSpPr>
          <p:cNvPr id="14" name="Text 12"/>
          <p:cNvSpPr/>
          <p:nvPr/>
        </p:nvSpPr>
        <p:spPr>
          <a:xfrm>
            <a:off x="7040880" y="2651760"/>
            <a:ext cx="4663440" cy="1280160"/>
          </a:xfrm>
          <a:prstGeom prst="rect">
            <a:avLst/>
          </a:prstGeom>
          <a:noFill/>
          <a:ln/>
        </p:spPr>
        <p:txBody>
          <a:bodyPr wrap="square" lIns="0" tIns="0" rIns="0" bIns="0" rtlCol="0" anchor="ctr"/>
          <a:lstStyle/>
          <a:p>
            <a:pPr algn="ctr" indent="0" marL="0">
              <a:buNone/>
            </a:pPr>
            <a:r>
              <a:rPr lang="en-US" sz="6600" b="1" dirty="0">
                <a:solidFill>
                  <a:srgbClr val="1C4A34"/>
                </a:solidFill>
                <a:latin typeface="Cambria" pitchFamily="34" charset="0"/>
                <a:ea typeface="Cambria" pitchFamily="34" charset="-122"/>
                <a:cs typeface="Cambria" pitchFamily="34" charset="-120"/>
              </a:rPr>
              <a:t>60%</a:t>
            </a:r>
            <a:endParaRPr lang="en-US" sz="6600" dirty="0"/>
          </a:p>
        </p:txBody>
      </p:sp>
      <p:sp>
        <p:nvSpPr>
          <p:cNvPr id="15" name="Text 13"/>
          <p:cNvSpPr/>
          <p:nvPr/>
        </p:nvSpPr>
        <p:spPr>
          <a:xfrm>
            <a:off x="7406640" y="3977640"/>
            <a:ext cx="3931920" cy="822960"/>
          </a:xfrm>
          <a:prstGeom prst="rect">
            <a:avLst/>
          </a:prstGeom>
          <a:noFill/>
          <a:ln/>
        </p:spPr>
        <p:txBody>
          <a:bodyPr wrap="square" rtlCol="0" anchor="t"/>
          <a:lstStyle/>
          <a:p>
            <a:pPr algn="ctr" indent="0" marL="0">
              <a:buNone/>
            </a:pPr>
            <a:r>
              <a:rPr lang="en-US" sz="1400" dirty="0">
                <a:solidFill>
                  <a:srgbClr val="6B6B6B"/>
                </a:solidFill>
                <a:latin typeface="Calibri" pitchFamily="34" charset="0"/>
                <a:ea typeface="Calibri" pitchFamily="34" charset="-122"/>
                <a:cs typeface="Calibri" pitchFamily="34" charset="-120"/>
              </a:rPr>
              <a:t>share of Korea’s bathroom</a:t>
            </a:r>
            <a:endParaRPr lang="en-US" sz="1400" dirty="0"/>
          </a:p>
          <a:p>
            <a:pPr algn="ctr" indent="0" marL="0">
              <a:buNone/>
            </a:pPr>
            <a:r>
              <a:rPr lang="en-US" sz="1400" dirty="0">
                <a:solidFill>
                  <a:srgbClr val="6B6B6B"/>
                </a:solidFill>
                <a:latin typeface="Calibri" pitchFamily="34" charset="0"/>
                <a:ea typeface="Calibri" pitchFamily="34" charset="-122"/>
                <a:cs typeface="Calibri" pitchFamily="34" charset="-120"/>
              </a:rPr>
              <a:t>ventilation-fan market today</a:t>
            </a:r>
            <a:endParaRPr lang="en-US" sz="1400" dirty="0"/>
          </a:p>
        </p:txBody>
      </p:sp>
      <p:sp>
        <p:nvSpPr>
          <p:cNvPr id="16" name="Text 14"/>
          <p:cNvSpPr/>
          <p:nvPr/>
        </p:nvSpPr>
        <p:spPr>
          <a:xfrm>
            <a:off x="457200" y="5989320"/>
            <a:ext cx="11247120" cy="640080"/>
          </a:xfrm>
          <a:prstGeom prst="rect">
            <a:avLst/>
          </a:prstGeom>
          <a:noFill/>
          <a:ln/>
        </p:spPr>
        <p:txBody>
          <a:bodyPr wrap="square" rtlCol="0" anchor="ctr"/>
          <a:lstStyle/>
          <a:p>
            <a:pPr algn="l" indent="0" marL="0">
              <a:buNone/>
            </a:pPr>
            <a:r>
              <a:rPr lang="en-US" sz="1700" b="1" i="1" dirty="0">
                <a:solidFill>
                  <a:srgbClr val="1A1A1A"/>
                </a:solidFill>
                <a:latin typeface="Cambria" pitchFamily="34" charset="0"/>
                <a:ea typeface="Cambria" pitchFamily="34" charset="-122"/>
                <a:cs typeface="Cambria" pitchFamily="34" charset="-120"/>
              </a:rPr>
              <a:t>The key decision was not to compete only on price — it was to redefine what value the product should deliver.</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195560" y="384048"/>
            <a:ext cx="1554480" cy="320040"/>
          </a:xfrm>
          <a:prstGeom prst="rect">
            <a:avLst/>
          </a:prstGeom>
          <a:noFill/>
          <a:ln/>
        </p:spPr>
        <p:txBody>
          <a:bodyPr wrap="square" lIns="0" tIns="0" rIns="0" bIns="0" rtlCol="0" anchor="ctr"/>
          <a:lstStyle/>
          <a:p>
            <a:pPr algn="r" indent="0" marL="0">
              <a:buNone/>
            </a:pPr>
            <a:r>
              <a:rPr lang="en-US" sz="1600" b="1" spc="100" kern="0" dirty="0">
                <a:solidFill>
                  <a:srgbClr val="1C4A34"/>
                </a:solidFill>
                <a:latin typeface="Calibri" pitchFamily="34" charset="0"/>
                <a:ea typeface="Calibri" pitchFamily="34" charset="-122"/>
                <a:cs typeface="Calibri" pitchFamily="34" charset="-120"/>
              </a:rPr>
              <a:t>HIMPEL</a:t>
            </a:r>
            <a:endParaRPr lang="en-US" sz="1600" dirty="0"/>
          </a:p>
        </p:txBody>
      </p:sp>
      <p:sp>
        <p:nvSpPr>
          <p:cNvPr id="3" name="Text 1"/>
          <p:cNvSpPr/>
          <p:nvPr/>
        </p:nvSpPr>
        <p:spPr>
          <a:xfrm>
            <a:off x="457200" y="365760"/>
            <a:ext cx="9509760" cy="54864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Connection to the Pre-Reading</a:t>
            </a:r>
            <a:endParaRPr lang="en-US" sz="3200" dirty="0"/>
          </a:p>
        </p:txBody>
      </p:sp>
      <p:sp>
        <p:nvSpPr>
          <p:cNvPr id="4" name="Text 2"/>
          <p:cNvSpPr/>
          <p:nvPr/>
        </p:nvSpPr>
        <p:spPr>
          <a:xfrm>
            <a:off x="457200" y="914400"/>
            <a:ext cx="11247120" cy="365760"/>
          </a:xfrm>
          <a:prstGeom prst="rect">
            <a:avLst/>
          </a:prstGeom>
          <a:noFill/>
          <a:ln/>
        </p:spPr>
        <p:txBody>
          <a:bodyPr wrap="square" rtlCol="0" anchor="ctr"/>
          <a:lstStyle/>
          <a:p>
            <a:pPr indent="0" marL="0">
              <a:buNone/>
            </a:pPr>
            <a:r>
              <a:rPr lang="en-US" sz="1500" i="1" dirty="0">
                <a:solidFill>
                  <a:srgbClr val="1C4A34"/>
                </a:solidFill>
                <a:latin typeface="Calibri" pitchFamily="34" charset="0"/>
                <a:ea typeface="Calibri" pitchFamily="34" charset="-122"/>
                <a:cs typeface="Calibri" pitchFamily="34" charset="-120"/>
              </a:rPr>
              <a:t>Reading 5 — "6 Lessons for Startups from a Museum Dedicated to Failure"</a:t>
            </a:r>
            <a:endParaRPr lang="en-US" sz="1500" dirty="0"/>
          </a:p>
        </p:txBody>
      </p:sp>
      <p:sp>
        <p:nvSpPr>
          <p:cNvPr id="5" name="Shape 3"/>
          <p:cNvSpPr/>
          <p:nvPr/>
        </p:nvSpPr>
        <p:spPr>
          <a:xfrm>
            <a:off x="457200" y="1508760"/>
            <a:ext cx="5349240" cy="3611880"/>
          </a:xfrm>
          <a:prstGeom prst="roundRect">
            <a:avLst>
              <a:gd name="adj" fmla="val 3038"/>
            </a:avLst>
          </a:prstGeom>
          <a:solidFill>
            <a:srgbClr val="F6ECE9"/>
          </a:solidFill>
          <a:ln/>
        </p:spPr>
      </p:sp>
      <p:sp>
        <p:nvSpPr>
          <p:cNvPr id="6" name="Text 4"/>
          <p:cNvSpPr/>
          <p:nvPr/>
        </p:nvSpPr>
        <p:spPr>
          <a:xfrm>
            <a:off x="777240" y="1783080"/>
            <a:ext cx="4709160" cy="457200"/>
          </a:xfrm>
          <a:prstGeom prst="rect">
            <a:avLst/>
          </a:prstGeom>
          <a:noFill/>
          <a:ln/>
        </p:spPr>
        <p:txBody>
          <a:bodyPr wrap="square" rtlCol="0" anchor="ctr"/>
          <a:lstStyle/>
          <a:p>
            <a:pPr indent="0" marL="0">
              <a:buNone/>
            </a:pPr>
            <a:r>
              <a:rPr lang="en-US" sz="1800" b="1" dirty="0">
                <a:solidFill>
                  <a:srgbClr val="8C4A3D"/>
                </a:solidFill>
                <a:latin typeface="Calibri" pitchFamily="34" charset="0"/>
                <a:ea typeface="Calibri" pitchFamily="34" charset="-122"/>
                <a:cs typeface="Calibri" pitchFamily="34" charset="-120"/>
              </a:rPr>
              <a:t>Why most products fail</a:t>
            </a:r>
            <a:endParaRPr lang="en-US" sz="1800" dirty="0"/>
          </a:p>
        </p:txBody>
      </p:sp>
      <p:pic>
        <p:nvPicPr>
          <p:cNvPr id="7" name="Image 0" descr="icon_x.png">    </p:cNvPr>
          <p:cNvPicPr>
            <a:picLocks noChangeAspect="1"/>
          </p:cNvPicPr>
          <p:nvPr/>
        </p:nvPicPr>
        <p:blipFill>
          <a:blip r:embed="rId1"/>
          <a:stretch>
            <a:fillRect/>
          </a:stretch>
        </p:blipFill>
        <p:spPr>
          <a:xfrm>
            <a:off x="777240" y="2468880"/>
            <a:ext cx="365760" cy="365760"/>
          </a:xfrm>
          <a:prstGeom prst="rect">
            <a:avLst/>
          </a:prstGeom>
        </p:spPr>
      </p:pic>
      <p:sp>
        <p:nvSpPr>
          <p:cNvPr id="8" name="Text 5"/>
          <p:cNvSpPr/>
          <p:nvPr/>
        </p:nvSpPr>
        <p:spPr>
          <a:xfrm>
            <a:off x="1280160" y="2331720"/>
            <a:ext cx="416052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Poor product–market fit</a:t>
            </a:r>
            <a:endParaRPr lang="en-US" sz="1450" dirty="0"/>
          </a:p>
        </p:txBody>
      </p:sp>
      <p:pic>
        <p:nvPicPr>
          <p:cNvPr id="9" name="Image 1" descr="icon_x.png">    </p:cNvPr>
          <p:cNvPicPr>
            <a:picLocks noChangeAspect="1"/>
          </p:cNvPicPr>
          <p:nvPr/>
        </p:nvPicPr>
        <p:blipFill>
          <a:blip r:embed="rId2"/>
          <a:stretch>
            <a:fillRect/>
          </a:stretch>
        </p:blipFill>
        <p:spPr>
          <a:xfrm>
            <a:off x="777240" y="3337560"/>
            <a:ext cx="365760" cy="365760"/>
          </a:xfrm>
          <a:prstGeom prst="rect">
            <a:avLst/>
          </a:prstGeom>
        </p:spPr>
      </p:pic>
      <p:sp>
        <p:nvSpPr>
          <p:cNvPr id="10" name="Text 6"/>
          <p:cNvSpPr/>
          <p:nvPr/>
        </p:nvSpPr>
        <p:spPr>
          <a:xfrm>
            <a:off x="1280160" y="3200400"/>
            <a:ext cx="416052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A "nice-to-have," not a "must-have"</a:t>
            </a:r>
            <a:endParaRPr lang="en-US" sz="1450" dirty="0"/>
          </a:p>
        </p:txBody>
      </p:sp>
      <p:pic>
        <p:nvPicPr>
          <p:cNvPr id="11" name="Image 2" descr="icon_x.png">    </p:cNvPr>
          <p:cNvPicPr>
            <a:picLocks noChangeAspect="1"/>
          </p:cNvPicPr>
          <p:nvPr/>
        </p:nvPicPr>
        <p:blipFill>
          <a:blip r:embed="rId3"/>
          <a:stretch>
            <a:fillRect/>
          </a:stretch>
        </p:blipFill>
        <p:spPr>
          <a:xfrm>
            <a:off x="777240" y="4206240"/>
            <a:ext cx="365760" cy="365760"/>
          </a:xfrm>
          <a:prstGeom prst="rect">
            <a:avLst/>
          </a:prstGeom>
        </p:spPr>
      </p:pic>
      <p:sp>
        <p:nvSpPr>
          <p:cNvPr id="12" name="Text 7"/>
          <p:cNvSpPr/>
          <p:nvPr/>
        </p:nvSpPr>
        <p:spPr>
          <a:xfrm>
            <a:off x="1280160" y="4069080"/>
            <a:ext cx="416052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A solution in search of a problem</a:t>
            </a:r>
            <a:endParaRPr lang="en-US" sz="1450" dirty="0"/>
          </a:p>
        </p:txBody>
      </p:sp>
      <p:sp>
        <p:nvSpPr>
          <p:cNvPr id="13" name="Shape 8"/>
          <p:cNvSpPr/>
          <p:nvPr/>
        </p:nvSpPr>
        <p:spPr>
          <a:xfrm>
            <a:off x="6355080" y="1508760"/>
            <a:ext cx="5349240" cy="3611880"/>
          </a:xfrm>
          <a:prstGeom prst="roundRect">
            <a:avLst>
              <a:gd name="adj" fmla="val 3038"/>
            </a:avLst>
          </a:prstGeom>
          <a:solidFill>
            <a:srgbClr val="E8EEEA"/>
          </a:solidFill>
          <a:ln/>
        </p:spPr>
      </p:sp>
      <p:sp>
        <p:nvSpPr>
          <p:cNvPr id="14" name="Text 9"/>
          <p:cNvSpPr/>
          <p:nvPr/>
        </p:nvSpPr>
        <p:spPr>
          <a:xfrm>
            <a:off x="6675120" y="1783080"/>
            <a:ext cx="4709160" cy="457200"/>
          </a:xfrm>
          <a:prstGeom prst="rect">
            <a:avLst/>
          </a:prstGeom>
          <a:noFill/>
          <a:ln/>
        </p:spPr>
        <p:txBody>
          <a:bodyPr wrap="square" rtlCol="0" anchor="ctr"/>
          <a:lstStyle/>
          <a:p>
            <a:pPr indent="0" marL="0">
              <a:buNone/>
            </a:pPr>
            <a:r>
              <a:rPr lang="en-US" sz="1800" b="1" dirty="0">
                <a:solidFill>
                  <a:srgbClr val="1C4A34"/>
                </a:solidFill>
                <a:latin typeface="Calibri" pitchFamily="34" charset="0"/>
                <a:ea typeface="Calibri" pitchFamily="34" charset="-122"/>
                <a:cs typeface="Calibri" pitchFamily="34" charset="-120"/>
              </a:rPr>
              <a:t>What HIMPEL did instead</a:t>
            </a:r>
            <a:endParaRPr lang="en-US" sz="1800" dirty="0"/>
          </a:p>
        </p:txBody>
      </p:sp>
      <p:pic>
        <p:nvPicPr>
          <p:cNvPr id="15" name="Image 3" descr="icon_check.png">    </p:cNvPr>
          <p:cNvPicPr>
            <a:picLocks noChangeAspect="1"/>
          </p:cNvPicPr>
          <p:nvPr/>
        </p:nvPicPr>
        <p:blipFill>
          <a:blip r:embed="rId4"/>
          <a:stretch>
            <a:fillRect/>
          </a:stretch>
        </p:blipFill>
        <p:spPr>
          <a:xfrm>
            <a:off x="6675120" y="2468880"/>
            <a:ext cx="365760" cy="365760"/>
          </a:xfrm>
          <a:prstGeom prst="rect">
            <a:avLst/>
          </a:prstGeom>
        </p:spPr>
      </p:pic>
      <p:sp>
        <p:nvSpPr>
          <p:cNvPr id="16" name="Text 10"/>
          <p:cNvSpPr/>
          <p:nvPr/>
        </p:nvSpPr>
        <p:spPr>
          <a:xfrm>
            <a:off x="7178040" y="2331720"/>
            <a:ext cx="416052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Solved a repeated, everyday problem</a:t>
            </a:r>
            <a:endParaRPr lang="en-US" sz="1450" dirty="0"/>
          </a:p>
        </p:txBody>
      </p:sp>
      <p:pic>
        <p:nvPicPr>
          <p:cNvPr id="17" name="Image 4" descr="icon_check.png">    </p:cNvPr>
          <p:cNvPicPr>
            <a:picLocks noChangeAspect="1"/>
          </p:cNvPicPr>
          <p:nvPr/>
        </p:nvPicPr>
        <p:blipFill>
          <a:blip r:embed="rId5"/>
          <a:stretch>
            <a:fillRect/>
          </a:stretch>
        </p:blipFill>
        <p:spPr>
          <a:xfrm>
            <a:off x="6675120" y="3337560"/>
            <a:ext cx="365760" cy="365760"/>
          </a:xfrm>
          <a:prstGeom prst="rect">
            <a:avLst/>
          </a:prstGeom>
        </p:spPr>
      </p:pic>
      <p:sp>
        <p:nvSpPr>
          <p:cNvPr id="18" name="Text 11"/>
          <p:cNvSpPr/>
          <p:nvPr/>
        </p:nvSpPr>
        <p:spPr>
          <a:xfrm>
            <a:off x="7178040" y="3200400"/>
            <a:ext cx="416052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Pivoted from furniture parts to ventilation</a:t>
            </a:r>
            <a:endParaRPr lang="en-US" sz="1450" dirty="0"/>
          </a:p>
        </p:txBody>
      </p:sp>
      <p:pic>
        <p:nvPicPr>
          <p:cNvPr id="19" name="Image 5" descr="icon_check.png">    </p:cNvPr>
          <p:cNvPicPr>
            <a:picLocks noChangeAspect="1"/>
          </p:cNvPicPr>
          <p:nvPr/>
        </p:nvPicPr>
        <p:blipFill>
          <a:blip r:embed="rId6"/>
          <a:stretch>
            <a:fillRect/>
          </a:stretch>
        </p:blipFill>
        <p:spPr>
          <a:xfrm>
            <a:off x="6675120" y="4206240"/>
            <a:ext cx="365760" cy="365760"/>
          </a:xfrm>
          <a:prstGeom prst="rect">
            <a:avLst/>
          </a:prstGeom>
        </p:spPr>
      </p:pic>
      <p:sp>
        <p:nvSpPr>
          <p:cNvPr id="20" name="Text 12"/>
          <p:cNvSpPr/>
          <p:nvPr/>
        </p:nvSpPr>
        <p:spPr>
          <a:xfrm>
            <a:off x="7178040" y="4069080"/>
            <a:ext cx="4160520" cy="640080"/>
          </a:xfrm>
          <a:prstGeom prst="rect">
            <a:avLst/>
          </a:prstGeom>
          <a:noFill/>
          <a:ln/>
        </p:spPr>
        <p:txBody>
          <a:bodyPr wrap="square" lIns="0" tIns="0" rIns="0" bIns="0" rtlCol="0" anchor="ctr"/>
          <a:lstStyle/>
          <a:p>
            <a:pPr indent="0" marL="0">
              <a:buNone/>
            </a:pPr>
            <a:r>
              <a:rPr lang="en-US" sz="1450" dirty="0">
                <a:solidFill>
                  <a:srgbClr val="1A1A1A"/>
                </a:solidFill>
                <a:latin typeface="Calibri" pitchFamily="34" charset="0"/>
                <a:ea typeface="Calibri" pitchFamily="34" charset="-122"/>
                <a:cs typeface="Calibri" pitchFamily="34" charset="-120"/>
              </a:rPr>
              <a:t>Expanded only after proving value in one category</a:t>
            </a:r>
            <a:endParaRPr lang="en-US" sz="1450" dirty="0"/>
          </a:p>
        </p:txBody>
      </p:sp>
      <p:sp>
        <p:nvSpPr>
          <p:cNvPr id="21" name="Text 13"/>
          <p:cNvSpPr/>
          <p:nvPr/>
        </p:nvSpPr>
        <p:spPr>
          <a:xfrm>
            <a:off x="457200" y="5532120"/>
            <a:ext cx="11247120" cy="1005840"/>
          </a:xfrm>
          <a:prstGeom prst="rect">
            <a:avLst/>
          </a:prstGeom>
          <a:noFill/>
          <a:ln/>
        </p:spPr>
        <p:txBody>
          <a:bodyPr wrap="square" rtlCol="0" anchor="ctr"/>
          <a:lstStyle/>
          <a:p>
            <a:pPr algn="l" indent="0" marL="0">
              <a:buNone/>
            </a:pPr>
            <a:r>
              <a:rPr lang="en-US" sz="1900" b="1" i="1" dirty="0">
                <a:solidFill>
                  <a:srgbClr val="1A1A1A"/>
                </a:solidFill>
                <a:latin typeface="Cambria" pitchFamily="34" charset="0"/>
                <a:ea typeface="Cambria" pitchFamily="34" charset="-122"/>
                <a:cs typeface="Cambria" pitchFamily="34" charset="-120"/>
              </a:rPr>
              <a:t>Entrepreneurship is not about inventing something new — it is about seeing an overlooked problem more clearly than others.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2026-07-27T10:19:21Z</dcterms:created>
  <dcterms:modified xsi:type="dcterms:W3CDTF">2026-07-27T10:19:21Z</dcterms:modified>
</cp:coreProperties>
</file>